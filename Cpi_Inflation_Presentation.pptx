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Roboto" panose="02000000000000000000" pitchFamily="2" charset="0"/>
      <p:regular r:id="rId13"/>
      <p:bold r:id="rId14"/>
      <p:italic r:id="rId15"/>
    </p:embeddedFont>
    <p:embeddedFont>
      <p:font typeface="Roboto Bold" panose="02000000000000000000" pitchFamily="2" charset="0"/>
      <p:regular r:id="rId16"/>
      <p:bold r:id="rId17"/>
    </p:embeddedFont>
    <p:embeddedFont>
      <p:font typeface="Saira Medium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4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224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672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yesh-analytics.github.io/" TargetMode="External"/><Relationship Id="rId4" Type="http://schemas.openxmlformats.org/officeDocument/2006/relationships/hyperlink" Target="https://www.linkedin.com/in/jayesh-s-5566b922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1397198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CPI INFLATION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844355" y="2365970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Case Study 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661475" y="2786360"/>
            <a:ext cx="6296860" cy="1341834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Jan 2013 – May 2023 · Rural, Urban, Rural+Urban · 27 categories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end-to-end in Excel — cleaning, imputation, analytics, executive summary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Coding Ninjas · Data Analytics Case Study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61475" y="4340820"/>
            <a:ext cx="6296860" cy="1119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3000"/>
              </a:lnSpc>
              <a:spcAft>
                <a:spcPts val="1650"/>
              </a:spcAft>
            </a:pP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Built By Jayesh — Data Analyst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5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/>
              </a:rPr>
              <a:t>Linkedin 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/>
              </a:rPr>
              <a:t>·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50" b="1" u="sng" dirty="0">
                <a:solidFill>
                  <a:srgbClr val="FC8337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  <a:hlinkClick r:id="rId5"/>
              </a:rPr>
              <a:t>Portfolio / Github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This is a formula-driven workbook, not a static report — every number is reproducible from the raw GOI CSV.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2988"/>
            <a:ext cx="10868745" cy="424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The Brief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661475" y="1036439"/>
            <a:ext cx="10868745" cy="339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Five questions to answer</a:t>
            </a:r>
            <a:endParaRPr lang="en-US" sz="2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522512"/>
            <a:ext cx="10868745" cy="81508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4033" y="1802705"/>
            <a:ext cx="203691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321561" y="1677392"/>
            <a:ext cx="10053783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Which broader bucket contributes most to the CPI basket?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35225"/>
            <a:ext cx="10868745" cy="81508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4033" y="2715419"/>
            <a:ext cx="203691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321561" y="2590105"/>
            <a:ext cx="10053783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Which year since 2017 had the highest inflation — and why?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347938"/>
            <a:ext cx="10868745" cy="81508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44033" y="3628132"/>
            <a:ext cx="203691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1321561" y="3502819"/>
            <a:ext cx="10053783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How did food prices move over the last 12 months?</a:t>
            </a:r>
            <a:endParaRPr lang="en-US" sz="13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260652"/>
            <a:ext cx="10868745" cy="81508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44033" y="4540845"/>
            <a:ext cx="203691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1321561" y="4415532"/>
            <a:ext cx="10053783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How did COVID-19 change inflation in health, food and essential services?</a:t>
            </a:r>
            <a:endParaRPr lang="en-US" sz="13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5173365"/>
            <a:ext cx="10868745" cy="81508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44033" y="5453559"/>
            <a:ext cx="203691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1321561" y="5328245"/>
            <a:ext cx="10053783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Which bucket is most sensitive to imported crude oil?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661475" y="6098282"/>
            <a:ext cx="1147833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The workbook is organised one sheet per question, plus methodology, clean data and a one-page summary.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3063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Data, Method &amp; Data Quality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29688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How the numbers were built — and cleaned</a:t>
            </a:r>
            <a:endParaRPr lang="en-US" sz="2950" dirty="0"/>
          </a:p>
        </p:txBody>
      </p:sp>
      <p:sp>
        <p:nvSpPr>
          <p:cNvPr id="4" name="Shape 2"/>
          <p:cNvSpPr/>
          <p:nvPr/>
        </p:nvSpPr>
        <p:spPr>
          <a:xfrm>
            <a:off x="525350" y="2052836"/>
            <a:ext cx="5476043" cy="3356967"/>
          </a:xfrm>
          <a:prstGeom prst="roundRect">
            <a:avLst>
              <a:gd name="adj" fmla="val 8108"/>
            </a:avLst>
          </a:prstGeom>
          <a:solidFill>
            <a:srgbClr val="FC8337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14357" y="2241848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Method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14357" y="2726134"/>
            <a:ext cx="5098029" cy="2617589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125 monthly observations · 27 categories · 3 sectors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Equal weights per category; bucket index = average of member categories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Published aggregates (Food &amp; beverages, Clothing &amp; footwear, Miscellaneous, General) excluded — no double counting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MoM % = (CPIt / CPIt-1 − 1) × 100 · YoY % = (CPIt / CPIt-12 − 1) × 100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332776" y="2241848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Data quality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332776" y="2726134"/>
            <a:ext cx="5203794" cy="2617589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and - → trailing 3-month moving average; linear interpolation for isolated gaps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Rural Housing unpublished → Rural+Urban housing as a flagged proxy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NSO suspended field collection Apr–May 2020 → imputed and logged cell by cell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Colour code: blue = input · black = formula · green = cross-sheet link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5622429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Two design decisions matter most — excluding published aggregates (otherwise every bucket share inflates), and logging every imputed cell so a reviewer can audit the workbook. CPI is an index, not a price, so it is never summed across months.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28439"/>
            <a:ext cx="6296860" cy="424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Headline Numbers</a:t>
            </a:r>
            <a:endParaRPr lang="en-US" sz="2650" dirty="0"/>
          </a:p>
        </p:txBody>
      </p:sp>
      <p:sp>
        <p:nvSpPr>
          <p:cNvPr id="4" name="Text 1"/>
          <p:cNvSpPr/>
          <p:nvPr/>
        </p:nvSpPr>
        <p:spPr>
          <a:xfrm>
            <a:off x="5233360" y="991890"/>
            <a:ext cx="6296860" cy="339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Where India stood in May 2023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5233360" y="1545828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179.1</a:t>
            </a:r>
            <a:endParaRPr lang="en-US" sz="3500" dirty="0"/>
          </a:p>
        </p:txBody>
      </p:sp>
      <p:sp>
        <p:nvSpPr>
          <p:cNvPr id="6" name="Text 3"/>
          <p:cNvSpPr/>
          <p:nvPr/>
        </p:nvSpPr>
        <p:spPr>
          <a:xfrm>
            <a:off x="5233360" y="2135287"/>
            <a:ext cx="6296860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General Index (R+U)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233360" y="2610743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4.31%</a:t>
            </a:r>
            <a:endParaRPr lang="en-US" sz="3500" dirty="0"/>
          </a:p>
        </p:txBody>
      </p:sp>
      <p:sp>
        <p:nvSpPr>
          <p:cNvPr id="8" name="Text 5"/>
          <p:cNvSpPr/>
          <p:nvPr/>
        </p:nvSpPr>
        <p:spPr>
          <a:xfrm>
            <a:off x="5233360" y="3200202"/>
            <a:ext cx="6296860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YoY Inflation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33360" y="3675658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6.62%</a:t>
            </a:r>
            <a:endParaRPr lang="en-US" sz="3500" dirty="0"/>
          </a:p>
        </p:txBody>
      </p:sp>
      <p:sp>
        <p:nvSpPr>
          <p:cNvPr id="10" name="Text 7"/>
          <p:cNvSpPr/>
          <p:nvPr/>
        </p:nvSpPr>
        <p:spPr>
          <a:xfrm>
            <a:off x="5233360" y="4265116"/>
            <a:ext cx="6296860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Peak Inflation Year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233360" y="4535984"/>
            <a:ext cx="629686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2022 average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233360" y="4985841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56.6%</a:t>
            </a:r>
            <a:endParaRPr lang="en-US" sz="3500" dirty="0"/>
          </a:p>
        </p:txBody>
      </p:sp>
      <p:sp>
        <p:nvSpPr>
          <p:cNvPr id="13" name="Text 10"/>
          <p:cNvSpPr/>
          <p:nvPr/>
        </p:nvSpPr>
        <p:spPr>
          <a:xfrm>
            <a:off x="5233360" y="5575300"/>
            <a:ext cx="6296860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Top Bucket by Weight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233360" y="5846167"/>
            <a:ext cx="629686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Food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233360" y="6142732"/>
            <a:ext cx="690644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4.31% is back inside the RBI's 2–6% tolerance band after the 2022 spike.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6554"/>
            <a:ext cx="10868745" cy="535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Q1: Basket Contribution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661475" y="1123851"/>
            <a:ext cx="10868745" cy="428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Food is over half the basket — 56.6%</a:t>
            </a:r>
            <a:endParaRPr lang="en-US" sz="26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59471"/>
            <a:ext cx="5225423" cy="37613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11147" y="1924546"/>
            <a:ext cx="5225423" cy="1784548"/>
          </a:xfrm>
          <a:prstGeom prst="rect">
            <a:avLst/>
          </a:prstGeom>
          <a:noFill/>
          <a:ln/>
        </p:spPr>
        <p:txBody>
          <a:bodyPr wrap="square" lIns="0" tIns="68519" rIns="0" bIns="0" rtlCol="0" anchor="t">
            <a:normAutofit/>
          </a:bodyPr>
          <a:lstStyle/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Food 56.6% · Clothing &amp; Footwear 8.9% · Housing 8.5%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Healthcare, Education, Personal Care ≈ 4.0–4.4% each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Smallest: Transportation &amp; Communication, 4.0%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Food holds 13 of 23 categories and sits above the basket mean index (179.1)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sum to exactly 100% by construction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61475" y="6070104"/>
            <a:ext cx="11478330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Under equal weights, a bucket's share is driven by how many categories it holds and how high those indices sit.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3753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Q2: Peak Year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703784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2022 was the worst year — 6.62% average YoY</a:t>
            </a:r>
            <a:endParaRPr lang="en-US" sz="2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59732"/>
            <a:ext cx="5339820" cy="101937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7479" y="2674144"/>
            <a:ext cx="480940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Peak month 7.79%; lowest year 2017 at 3.33%</a:t>
            </a:r>
            <a:endParaRPr lang="en-US" sz="18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2459732"/>
            <a:ext cx="5339919" cy="101937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06305" y="2674144"/>
            <a:ext cx="480950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Brent crude averaged ~USD 100/bbl after the Russia–Ukraine war</a:t>
            </a:r>
            <a:endParaRPr lang="en-US" sz="18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668117"/>
            <a:ext cx="5339820" cy="72409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77479" y="3882529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Edible oil and fertiliser imports repriced</a:t>
            </a:r>
            <a:endParaRPr lang="en-US" sz="18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0301" y="3668117"/>
            <a:ext cx="5339919" cy="72409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506305" y="3882529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March heatwave cut wheat output</a:t>
            </a:r>
            <a:endParaRPr lang="en-US" sz="185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581227"/>
            <a:ext cx="5339820" cy="72409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77479" y="4795639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Weak rupee amplified every imported input</a:t>
            </a:r>
            <a:endParaRPr lang="en-US" sz="185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0301" y="4581227"/>
            <a:ext cx="5339919" cy="724098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506305" y="4795639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RBI response: 225 bps of repo hikes</a:t>
            </a:r>
            <a:endParaRPr lang="en-US" sz="1850" dirty="0"/>
          </a:p>
        </p:txBody>
      </p:sp>
      <p:sp>
        <p:nvSpPr>
          <p:cNvPr id="16" name="Text 8"/>
          <p:cNvSpPr/>
          <p:nvPr/>
        </p:nvSpPr>
        <p:spPr>
          <a:xfrm>
            <a:off x="661475" y="551795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2022 was cost-push and largely imported — not demand-driven.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507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Q3: Food Deep Dive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149648"/>
            <a:ext cx="1086874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12 months to May-2023: food inflation 3.06%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2415" y="1780084"/>
            <a:ext cx="5470785" cy="4091980"/>
          </a:xfrm>
          <a:prstGeom prst="roundRect">
            <a:avLst>
              <a:gd name="adj" fmla="val 5820"/>
            </a:avLst>
          </a:prstGeom>
          <a:solidFill>
            <a:srgbClr val="FC8337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07710" y="1924745"/>
            <a:ext cx="514019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Key Movements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07710" y="2327870"/>
            <a:ext cx="5140196" cy="1442641"/>
          </a:xfrm>
          <a:prstGeom prst="rect">
            <a:avLst/>
          </a:prstGeom>
          <a:noFill/>
          <a:ln/>
        </p:spPr>
        <p:txBody>
          <a:bodyPr wrap="square" lIns="0" tIns="66156" rIns="0" bIns="0" rtlCol="0" anchor="t">
            <a:normAutofit/>
          </a:bodyPr>
          <a:lstStyle/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Food bucket 173.82 → 179.14 = </a:t>
            </a:r>
            <a:r>
              <a:rPr lang="en-US" sz="13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+5.32 index points</a:t>
            </a:r>
            <a:endParaRPr lang="en-US" sz="1300" dirty="0"/>
          </a:p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Highest MoM: </a:t>
            </a:r>
            <a:r>
              <a:rPr lang="en-US" sz="13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June-2022, +0.96%</a:t>
            </a:r>
            <a:endParaRPr lang="en-US" sz="1300" dirty="0"/>
          </a:p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Lowest MoM: </a:t>
            </a:r>
            <a:r>
              <a:rPr lang="en-US" sz="13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February-2023, −0.54%</a:t>
            </a:r>
            <a:endParaRPr lang="en-US" sz="1300" dirty="0"/>
          </a:p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Biggest driver: </a:t>
            </a:r>
            <a:r>
              <a:rPr lang="en-US" sz="13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Spices, +33.10 pts = 28.0% of the entire rise</a:t>
            </a:r>
            <a:endParaRPr lang="en-US" sz="1300" dirty="0"/>
          </a:p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Weakest: Oils and fats, −32.40 pts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904" y="1942802"/>
            <a:ext cx="5232666" cy="37665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1475" y="6034782"/>
            <a:ext cx="11478330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Falling edible-oil prices offset the spice and cereal spike — which is why headline food inflation looks calm while individual items were violent.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630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Q4: COVID Impact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262559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The lockdown reshaped the mix, not just the level</a:t>
            </a:r>
            <a:endParaRPr lang="en-US" sz="2950" dirty="0"/>
          </a:p>
        </p:txBody>
      </p:sp>
      <p:sp>
        <p:nvSpPr>
          <p:cNvPr id="4" name="Shape 2"/>
          <p:cNvSpPr/>
          <p:nvPr/>
        </p:nvSpPr>
        <p:spPr>
          <a:xfrm>
            <a:off x="661475" y="2018506"/>
            <a:ext cx="10868745" cy="2199481"/>
          </a:xfrm>
          <a:prstGeom prst="roundRect">
            <a:avLst>
              <a:gd name="adj" fmla="val 7734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61475" y="2569964"/>
            <a:ext cx="10868745" cy="1181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61475" y="3118247"/>
            <a:ext cx="10868745" cy="1181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1475" y="3666530"/>
            <a:ext cx="10868745" cy="1181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381985" y="2018506"/>
            <a:ext cx="11814" cy="219948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95947" y="2018506"/>
            <a:ext cx="11814" cy="219948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809909" y="2018506"/>
            <a:ext cx="11814" cy="219948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7030" y="2144613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Group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74167" y="2144613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Pre Mar-2020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88129" y="2144613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Post Mar-2020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002090" y="2144613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Change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030" y="2692896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Food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574167" y="2692896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2.85%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288129" y="2692896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7.48%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002090" y="2692896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+4.63 pp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57030" y="3241179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Essential services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574167" y="3241179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4.45%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88129" y="3241179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5.82%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002090" y="3241179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+1.37 pp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57030" y="3789462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Healthcare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574167" y="3789462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6.72%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288129" y="3789462"/>
            <a:ext cx="293918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6.23%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002090" y="3789462"/>
            <a:ext cx="29423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−0.48 pp</a:t>
            </a:r>
            <a:endParaRPr lang="en-US" sz="145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075" y="4405213"/>
            <a:ext cx="3490825" cy="136673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01281" y="4430613"/>
            <a:ext cx="32256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Food</a:t>
            </a:r>
            <a:endParaRPr lang="en-US" sz="1850" dirty="0"/>
          </a:p>
        </p:txBody>
      </p:sp>
      <p:sp>
        <p:nvSpPr>
          <p:cNvPr id="29" name="Text 26"/>
          <p:cNvSpPr/>
          <p:nvPr/>
        </p:nvSpPr>
        <p:spPr>
          <a:xfrm>
            <a:off x="901281" y="4839295"/>
            <a:ext cx="322562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Mandis shut, inter-state trucking stopped — food YoY topped 10% in Apr-2020</a:t>
            </a:r>
            <a:endParaRPr lang="en-US" sz="1450" dirty="0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7735" y="4405213"/>
            <a:ext cx="3490825" cy="136673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602940" y="4430613"/>
            <a:ext cx="32256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Services</a:t>
            </a:r>
            <a:endParaRPr lang="en-US" sz="1850" dirty="0"/>
          </a:p>
        </p:txBody>
      </p:sp>
      <p:sp>
        <p:nvSpPr>
          <p:cNvPr id="32" name="Text 28"/>
          <p:cNvSpPr/>
          <p:nvPr/>
        </p:nvSpPr>
        <p:spPr>
          <a:xfrm>
            <a:off x="4602940" y="4839295"/>
            <a:ext cx="322562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Record fuel excise duty in May-2020, even as global crude crashed</a:t>
            </a:r>
            <a:endParaRPr lang="en-US" sz="1450" dirty="0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9395" y="4405213"/>
            <a:ext cx="3490825" cy="136673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304600" y="4430613"/>
            <a:ext cx="32256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Healthcare</a:t>
            </a:r>
            <a:endParaRPr lang="en-US" sz="1850" dirty="0"/>
          </a:p>
        </p:txBody>
      </p:sp>
      <p:sp>
        <p:nvSpPr>
          <p:cNvPr id="35" name="Text 30"/>
          <p:cNvSpPr/>
          <p:nvPr/>
        </p:nvSpPr>
        <p:spPr>
          <a:xfrm>
            <a:off x="8304600" y="4839295"/>
            <a:ext cx="322562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Already fastest-inflating pre-COVID; peaked 9.39% in the Delta wave (May-2021)</a:t>
            </a:r>
            <a:endParaRPr lang="en-US" sz="1450" dirty="0"/>
          </a:p>
        </p:txBody>
      </p:sp>
      <p:sp>
        <p:nvSpPr>
          <p:cNvPr id="36" name="Text 31"/>
          <p:cNvSpPr/>
          <p:nvPr/>
        </p:nvSpPr>
        <p:spPr>
          <a:xfrm>
            <a:off x="661475" y="595917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Largest structural break: food. Healthcare's problem is structural, not pandemic-created.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405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Q5: Crude Oil Sensitivity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1258391"/>
            <a:ext cx="10868745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Energy &amp; Utilities is the most crude-sensitive bucket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661475" y="1904008"/>
            <a:ext cx="11478330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Pearson correlation (R) of MoM crude change vs MoM bucket inflation, 2021–2023: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61475" y="2327275"/>
            <a:ext cx="10868745" cy="3180358"/>
          </a:xfrm>
          <a:prstGeom prst="roundRect">
            <a:avLst>
              <a:gd name="adj" fmla="val 4764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61475" y="2783880"/>
            <a:ext cx="10868745" cy="1052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1475" y="3237309"/>
            <a:ext cx="10868745" cy="1052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1475" y="3690739"/>
            <a:ext cx="10868745" cy="1052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61475" y="4144169"/>
            <a:ext cx="10868745" cy="1052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1475" y="4597598"/>
            <a:ext cx="10868745" cy="1052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1475" y="5051028"/>
            <a:ext cx="10868745" cy="1052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6095" y="2429867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Bucket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64118" y="2429867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6095" y="2883297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Energy &amp; Utilities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64118" y="2883297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+0.113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6095" y="3336727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Transportation &amp; Communication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4118" y="3336727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+0.107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095" y="3790156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Housing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4118" y="3790156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+0.104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6095" y="4243586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4118" y="4243586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+0.084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6095" y="4697016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Food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64118" y="4697016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+0.074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6095" y="5150445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64118" y="5150445"/>
            <a:ext cx="570106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−0.117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1475" y="5676305"/>
            <a:ext cx="10868745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i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Notes: R ranges −1 to +1 and measures direction and tightness of co-movement, not magnitude. All values are low because Indian pass-through is lagged one to two months and buffered by excise duty and LPG subsidy changes. Education's negative R reflects annually administered fees.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8487"/>
            <a:ext cx="10868745" cy="46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Takeaways, Skills &amp; Thank You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61475" y="1106091"/>
            <a:ext cx="10868745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Four takeaways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661475" y="1648321"/>
            <a:ext cx="332176" cy="332184"/>
          </a:xfrm>
          <a:prstGeom prst="roundRect">
            <a:avLst>
              <a:gd name="adj" fmla="val 40010"/>
            </a:avLst>
          </a:prstGeom>
          <a:solidFill>
            <a:srgbClr val="030303"/>
          </a:solidFill>
          <a:ln w="1270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16838" y="1676003"/>
            <a:ext cx="221451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08940" y="1699022"/>
            <a:ext cx="4914777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Managing headline CPI in India is managing food supply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08940" y="1998861"/>
            <a:ext cx="4914777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Buffer stocks, export curbs, mandi logistics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67879" y="1648321"/>
            <a:ext cx="332176" cy="332184"/>
          </a:xfrm>
          <a:prstGeom prst="roundRect">
            <a:avLst>
              <a:gd name="adj" fmla="val 40010"/>
            </a:avLst>
          </a:prstGeom>
          <a:solidFill>
            <a:srgbClr val="030303"/>
          </a:solidFill>
          <a:ln w="1270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23241" y="1676003"/>
            <a:ext cx="221451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15344" y="1699022"/>
            <a:ext cx="4914876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Crude is the second lever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15344" y="1998861"/>
            <a:ext cx="4914876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10% crude move reaches transport and food in one to two months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1475" y="2439888"/>
            <a:ext cx="332176" cy="332184"/>
          </a:xfrm>
          <a:prstGeom prst="roundRect">
            <a:avLst>
              <a:gd name="adj" fmla="val 40010"/>
            </a:avLst>
          </a:prstGeom>
          <a:solidFill>
            <a:srgbClr val="030303"/>
          </a:solidFill>
          <a:ln w="1270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16838" y="2467570"/>
            <a:ext cx="221451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08940" y="2490589"/>
            <a:ext cx="4914777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Healthcare runs above headline inflation in both windows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08940" y="2790428"/>
            <a:ext cx="4914777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structural affordability problem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67879" y="2439888"/>
            <a:ext cx="332176" cy="332184"/>
          </a:xfrm>
          <a:prstGeom prst="roundRect">
            <a:avLst>
              <a:gd name="adj" fmla="val 40010"/>
            </a:avLst>
          </a:prstGeom>
          <a:solidFill>
            <a:srgbClr val="030303"/>
          </a:solidFill>
          <a:ln w="1270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23241" y="2467570"/>
            <a:ext cx="221451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15344" y="2490589"/>
            <a:ext cx="4914876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Rural and urban baskets diverge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615344" y="2790428"/>
            <a:ext cx="4914876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Rural food-led, urban services-led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1475" y="3167459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E5E0D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1475" y="3396456"/>
            <a:ext cx="10868745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Skills demonstrated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661475" y="3938687"/>
            <a:ext cx="10868745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Cleaning &amp; imputation · Audit-ready workbook design · Index vs price reasoning · MoM/YoY/absolute change · Contribution decomposition · CORREL sensitivity analysis · INDEX/MATCH, SUMPRODUCT, AVERAGEIFS · Executive communication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1475" y="4526062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E5E0D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1475" y="4755059"/>
            <a:ext cx="10868745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Honest limitations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661475" y="5297289"/>
            <a:ext cx="10868745" cy="962223"/>
          </a:xfrm>
          <a:prstGeom prst="rect">
            <a:avLst/>
          </a:prstGeom>
          <a:noFill/>
          <a:ln/>
        </p:spPr>
        <p:txBody>
          <a:bodyPr wrap="square" lIns="0" tIns="59068" rIns="0" bIns="0" rtlCol="0" anchor="t">
            <a:normAutofit/>
          </a:bodyPr>
          <a:lstStyle/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Equal weights are a case-study simplification</a:t>
            </a: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Apr–May 2020 imputed</a:t>
            </a: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Rural Housing proxied</a:t>
            </a: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Correlation is contemporaneous, not lagged or causal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C8337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1012</Words>
  <Application>Microsoft Macintosh PowerPoint</Application>
  <PresentationFormat>Widescreen</PresentationFormat>
  <Paragraphs>146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Roboto</vt:lpstr>
      <vt:lpstr>Saira Medium</vt:lpstr>
      <vt:lpstr>Roboto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jayesh suthar</cp:lastModifiedBy>
  <cp:revision>3</cp:revision>
  <dcterms:created xsi:type="dcterms:W3CDTF">2026-08-20T06:55:13Z</dcterms:created>
  <dcterms:modified xsi:type="dcterms:W3CDTF">2026-08-20T10:28:45Z</dcterms:modified>
</cp:coreProperties>
</file>