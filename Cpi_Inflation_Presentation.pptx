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Medium"/>
      <p:regular r:id="rId201315"/>
    </p:embeddedFont>
    <p:embeddedFont>
      <p:font typeface="Roboto Bold"/>
      <p:regular r:id="rId201316"/>
    </p:embeddedFont>
    <p:embeddedFont>
      <p:font typeface="Saira"/>
      <p:regular r:id="rId201317"/>
    </p:embeddedFont>
    <p:embeddedFont>
      <p:font typeface="Saira Medium"/>
      <p:regular r:id="rId201318"/>
    </p:embeddedFont>
    <p:embeddedFont>
      <p:font typeface="Saira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jayesh-s-5566b9220/" TargetMode="External"/><Relationship Id="rId3" Type="http://schemas.openxmlformats.org/officeDocument/2006/relationships/hyperlink" Target="https://jayesh-analytics.github.io/" TargetMode="External"/><Relationship Id="rId1" Type="http://schemas.openxmlformats.org/officeDocument/2006/relationships/image" Target="../media/image-1-1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1.png"/><Relationship Id="rId10" Type="http://schemas.openxmlformats.org/officeDocument/2006/relationships/image" Target="../media/image-2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5.png"/><Relationship Id="rId8" Type="http://schemas.openxmlformats.org/officeDocument/2006/relationships/image" Target="../media/image-6-6.svg"/><Relationship Id="rId9" Type="http://schemas.openxmlformats.org/officeDocument/2006/relationships/image" Target="../media/image-6-5.png"/><Relationship Id="rId10" Type="http://schemas.openxmlformats.org/officeDocument/2006/relationships/image" Target="../media/image-6-6.svg"/><Relationship Id="rId11" Type="http://schemas.openxmlformats.org/officeDocument/2006/relationships/image" Target="../media/image-6-5.png"/><Relationship Id="rId12" Type="http://schemas.openxmlformats.org/officeDocument/2006/relationships/image" Target="../media/image-6-6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9719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INDIA CPI INFLATION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27131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Analytical Case Study · National Statistical Office data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2786360"/>
            <a:ext cx="6296860" cy="134183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Jan 2013 – May 2023 · Rural, Urban, Rural+Urban · 27 categories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end-to-end in Excel — cleaning, imputation, analytics, executive summary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Coding Ninjas · Data Analytics Assignment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4340820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Built By Jayesh — Data Analyst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u="sng" dirty="0">
                <a:solidFill>
                  <a:srgbClr val="FC833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u="sng" dirty="0">
                <a:solidFill>
                  <a:srgbClr val="FC833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Portfolio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This is a formula-driven workbook, not a static report — every number is reproducible from the raw GOI CSV.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988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Brief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036439"/>
            <a:ext cx="10868745" cy="339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Five questions to answer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22512"/>
            <a:ext cx="10868745" cy="8150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4033" y="1802705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21561" y="1677392"/>
            <a:ext cx="10053783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Which broader bucket contributes most to the CPI basket?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35225"/>
            <a:ext cx="10868745" cy="8150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4033" y="2715419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21561" y="2590105"/>
            <a:ext cx="10053783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Which year since 2017 had the highest inflation — and why?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47938"/>
            <a:ext cx="10868745" cy="8150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4033" y="3628132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321561" y="3502819"/>
            <a:ext cx="10053783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How did food prices move over the last 12 months?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260652"/>
            <a:ext cx="10868745" cy="8150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4033" y="4540845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321561" y="4415532"/>
            <a:ext cx="10053783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How did COVID-19 change inflation in health, food and essential services?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173365"/>
            <a:ext cx="10868745" cy="81508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4033" y="5453559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321561" y="5328245"/>
            <a:ext cx="10053783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Which bucket is most sensitive to imported crude oil?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61475" y="6098282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The workbook is organised one sheet per question, plus methodology, clean data and a one-page summary.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6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Data, Method &amp; Data Quality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29688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How the numbers were built — and cleaned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525350" y="2052836"/>
            <a:ext cx="5476043" cy="3356967"/>
          </a:xfrm>
          <a:prstGeom prst="roundRect">
            <a:avLst>
              <a:gd name="adj" fmla="val 8108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224184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Method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2726134"/>
            <a:ext cx="5098029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125 monthly observations · 27 categories · 3 sectors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Equal weights per category; bucket index = average of member categories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Published aggregates (Food &amp; beverages, Clothing &amp; footwear, Miscellaneous, General) excluded — no double counting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MoM % = (CPIt / CPIt-1 − 1) × 100 · YoY % = (CPIt / CPIt-12 − 1) × 100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24184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quality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2726134"/>
            <a:ext cx="5203794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 and - → trailing 3-month moving average; linear interpolation for isolated gaps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Rural Housing unpublished → Rural+Urban housing as a flagged proxy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NSO suspended field collection Apr–May 2020 → imputed and logged cell by cell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Colour code: blue = input · black = formula · green = cross-sheet link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562242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Two design decisions matter most — excluding published aggregates (otherwise every bucket share inflates), and logging every imputed cell so a reviewer can audit the workbook. CPI is an index, not a price, so it is never summed across months.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8439"/>
            <a:ext cx="6296860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Headline Numbers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5233360" y="991890"/>
            <a:ext cx="6296860" cy="339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Where India stood in May 2023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233360" y="1545828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179.1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5233360" y="2135287"/>
            <a:ext cx="6296860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General Index (R+U)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33360" y="2610743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4.31%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5233360" y="3200202"/>
            <a:ext cx="6296860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YoY Inflation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33360" y="3675658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6.62%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5233360" y="4265116"/>
            <a:ext cx="6296860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Peak Inflation Year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33360" y="4535984"/>
            <a:ext cx="629686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2022 average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233360" y="4985841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56.6%</a:t>
            </a:r>
            <a:endParaRPr lang="en-US" sz="3500" dirty="0"/>
          </a:p>
        </p:txBody>
      </p:sp>
      <p:sp>
        <p:nvSpPr>
          <p:cNvPr id="13" name="Text 10"/>
          <p:cNvSpPr/>
          <p:nvPr/>
        </p:nvSpPr>
        <p:spPr>
          <a:xfrm>
            <a:off x="5233360" y="5575300"/>
            <a:ext cx="6296860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Top Bucket by Weight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33360" y="5846167"/>
            <a:ext cx="629686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233360" y="6142732"/>
            <a:ext cx="690644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4.31% is back inside the RBI's 2–6% tolerance band after the 2022 spike.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554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Q1: Basket Contribution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123851"/>
            <a:ext cx="10868745" cy="42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Food is over half the basket — 56.6%</a:t>
            </a:r>
            <a:endParaRPr lang="en-US" sz="2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59471"/>
            <a:ext cx="5225423" cy="37613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1147" y="1924546"/>
            <a:ext cx="5225423" cy="1784548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56.6% · Clothing &amp; Footwear 8.9% · Housing 8.5%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Healthcare, Education, Personal Care ≈ 4.0–4.4% each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Smallest: Transportation &amp; Communication, 4.0%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holds 13 of 23 categories and sits above the basket mean index (179.1)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Shares sum to exactly 100% by construction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6070104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Under equal weights, a bucket's share is driven by how many categories it holds and how high those indices sit.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75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Q2: Peak Year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0378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2022 was the worst year — 6.62% average YoY</a:t>
            </a:r>
            <a:endParaRPr lang="en-US" sz="2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59732"/>
            <a:ext cx="5339820" cy="101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674144"/>
            <a:ext cx="48094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Peak month 7.79%; lowest year 2017 at 3.33%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459732"/>
            <a:ext cx="5339919" cy="10193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674144"/>
            <a:ext cx="48095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Brent crude averaged ~USD 100/bbl after the Russia–Ukraine war</a:t>
            </a:r>
            <a:endParaRPr lang="en-US" sz="1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68117"/>
            <a:ext cx="5339820" cy="7240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7479" y="388252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Edible oil and fertiliser imports repriced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3668117"/>
            <a:ext cx="5339919" cy="7240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06305" y="388252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March heatwave cut wheat output</a:t>
            </a:r>
            <a:endParaRPr lang="en-US" sz="1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581227"/>
            <a:ext cx="5339820" cy="72409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77479" y="479563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Weak rupee amplified every imported input</a:t>
            </a:r>
            <a:endParaRPr lang="en-US" sz="18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0301" y="4581227"/>
            <a:ext cx="5339919" cy="72409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506305" y="479563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RBI response: 225 bps of repo hikes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661475" y="551795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2022 was cost-push and largely imported — not demand-driven.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07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Q3: Food Deep Dive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14964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12 months to May-2023: food inflation 3.06%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2415" y="1780084"/>
            <a:ext cx="5470785" cy="4091980"/>
          </a:xfrm>
          <a:prstGeom prst="roundRect">
            <a:avLst>
              <a:gd name="adj" fmla="val 5820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192474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Movements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2327870"/>
            <a:ext cx="5140196" cy="1442641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bucket 173.82 → 179.14 = 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+5.32 index points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MoM: 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June-2022, +0.96%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Lowest MoM: 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February-2023, −0.54%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Biggest driver: </a:t>
            </a:r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Spices, +33.10 pts = 28.0% of the entire rise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Weakest: Oils and fats, −32.40 pts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3904" y="1942802"/>
            <a:ext cx="5232666" cy="37665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6034782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Falling edible-oil prices offset the spice and cereal spike — which is why headline food inflation looks calm while individual items were violent.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63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Q4: COVID Impact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26255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lockdown reshaped the mix, not just the level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61475" y="2018506"/>
            <a:ext cx="10868745" cy="2199481"/>
          </a:xfrm>
          <a:prstGeom prst="roundRect">
            <a:avLst>
              <a:gd name="adj" fmla="val 7734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569964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118247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666530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381985" y="2018506"/>
            <a:ext cx="11814" cy="219948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5947" y="2018506"/>
            <a:ext cx="11814" cy="219948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809909" y="2018506"/>
            <a:ext cx="11814" cy="219948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7030" y="2144613"/>
            <a:ext cx="29423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Group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74167" y="2144613"/>
            <a:ext cx="29391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 Mar-2020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88129" y="2144613"/>
            <a:ext cx="29391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Post Mar-2020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002090" y="2144613"/>
            <a:ext cx="29423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Change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7030" y="2692896"/>
            <a:ext cx="29423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74167" y="2692896"/>
            <a:ext cx="29391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2.85%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88129" y="2692896"/>
            <a:ext cx="29391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7.48%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02090" y="2692896"/>
            <a:ext cx="29423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+4.63 pp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7030" y="3241179"/>
            <a:ext cx="29423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Essential services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574167" y="3241179"/>
            <a:ext cx="29391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4.45%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88129" y="3241179"/>
            <a:ext cx="29391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5.82%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002090" y="3241179"/>
            <a:ext cx="29423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+1.37 pp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7030" y="3789462"/>
            <a:ext cx="29423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Healthcare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574167" y="3789462"/>
            <a:ext cx="29391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6.72%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288129" y="3789462"/>
            <a:ext cx="29391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6.23%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002090" y="3789462"/>
            <a:ext cx="29423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−0.48 pp</a:t>
            </a:r>
            <a:endParaRPr lang="en-US" sz="14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6075" y="4405213"/>
            <a:ext cx="3490825" cy="136673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01281" y="4430613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Food</a:t>
            </a:r>
            <a:endParaRPr lang="en-US" sz="1850" dirty="0"/>
          </a:p>
        </p:txBody>
      </p:sp>
      <p:sp>
        <p:nvSpPr>
          <p:cNvPr id="29" name="Text 26"/>
          <p:cNvSpPr/>
          <p:nvPr/>
        </p:nvSpPr>
        <p:spPr>
          <a:xfrm>
            <a:off x="901281" y="4839295"/>
            <a:ext cx="32256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Mandis shut, inter-state trucking stopped — food YoY topped 10% in Apr-2020</a:t>
            </a:r>
            <a:endParaRPr lang="en-US" sz="14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735" y="4405213"/>
            <a:ext cx="3490825" cy="136673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602940" y="4430613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Services</a:t>
            </a:r>
            <a:endParaRPr lang="en-US" sz="1850" dirty="0"/>
          </a:p>
        </p:txBody>
      </p:sp>
      <p:sp>
        <p:nvSpPr>
          <p:cNvPr id="32" name="Text 28"/>
          <p:cNvSpPr/>
          <p:nvPr/>
        </p:nvSpPr>
        <p:spPr>
          <a:xfrm>
            <a:off x="4602940" y="4839295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 fuel excise duty in May-2020, even as global crude crashed</a:t>
            </a:r>
            <a:endParaRPr lang="en-US" sz="145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9395" y="4405213"/>
            <a:ext cx="3490825" cy="136673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304600" y="4430613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Healthcare</a:t>
            </a:r>
            <a:endParaRPr lang="en-US" sz="1850" dirty="0"/>
          </a:p>
        </p:txBody>
      </p:sp>
      <p:sp>
        <p:nvSpPr>
          <p:cNvPr id="35" name="Text 30"/>
          <p:cNvSpPr/>
          <p:nvPr/>
        </p:nvSpPr>
        <p:spPr>
          <a:xfrm>
            <a:off x="8304600" y="4839295"/>
            <a:ext cx="32256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Already fastest-inflating pre-COVID; peaked 9.39% in the Delta wave (May-2021)</a:t>
            </a:r>
            <a:endParaRPr lang="en-US" sz="1450" dirty="0"/>
          </a:p>
        </p:txBody>
      </p:sp>
      <p:sp>
        <p:nvSpPr>
          <p:cNvPr id="36" name="Text 31"/>
          <p:cNvSpPr/>
          <p:nvPr/>
        </p:nvSpPr>
        <p:spPr>
          <a:xfrm>
            <a:off x="661475" y="59591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Largest structural break: food. Healthcare's problem is structural, not pandemic-created.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405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Q5: Crude Oil Sensitivity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258391"/>
            <a:ext cx="10868745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Energy &amp; Utilities is the most crude-sensitive bucket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61475" y="1904008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Pearson correlation (R) of MoM crude change vs MoM bucket inflation, 2021–2023: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327275"/>
            <a:ext cx="10868745" cy="3180358"/>
          </a:xfrm>
          <a:prstGeom prst="roundRect">
            <a:avLst>
              <a:gd name="adj" fmla="val 4764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1475" y="2783880"/>
            <a:ext cx="10868745" cy="105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237309"/>
            <a:ext cx="10868745" cy="105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690739"/>
            <a:ext cx="10868745" cy="105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144169"/>
            <a:ext cx="10868745" cy="105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597598"/>
            <a:ext cx="10868745" cy="105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5051028"/>
            <a:ext cx="10868745" cy="105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36095" y="2429867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Bucket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4118" y="2429867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6095" y="2883297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&amp; Utilities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4118" y="2883297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+0.113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095" y="3336727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Transportation &amp; Communication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4118" y="3336727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+0.107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095" y="3790156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Housing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4118" y="3790156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+0.104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095" y="4243586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4118" y="4243586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+0.084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095" y="4697016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4118" y="4697016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+0.074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6095" y="5150445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4118" y="5150445"/>
            <a:ext cx="570106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−0.117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1475" y="5676305"/>
            <a:ext cx="1086874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R ranges −1 to +1 and measures direction and tightness of co-movement, not magnitude. All values are low because Indian pass-through is lagged one to two months and buffered by excise duty and LPG subsidy changes. Education's negative R reflects annually administered fees.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487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Takeaways, Skills &amp; Thank You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106091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Four takeaways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61475" y="1648321"/>
            <a:ext cx="332176" cy="332184"/>
          </a:xfrm>
          <a:prstGeom prst="roundRect">
            <a:avLst>
              <a:gd name="adj" fmla="val 40010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6838" y="1676003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08940" y="1699022"/>
            <a:ext cx="4914777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Managing headline CPI in India is managing food supply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08940" y="1998861"/>
            <a:ext cx="4914777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Buffer stocks, export curbs, mandi logistics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67879" y="1648321"/>
            <a:ext cx="332176" cy="332184"/>
          </a:xfrm>
          <a:prstGeom prst="roundRect">
            <a:avLst>
              <a:gd name="adj" fmla="val 40010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23241" y="1676003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15344" y="1699022"/>
            <a:ext cx="491487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Crude is the second lever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5344" y="1998861"/>
            <a:ext cx="491487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10% crude move reaches transport and food in one to two months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475" y="2439888"/>
            <a:ext cx="332176" cy="332184"/>
          </a:xfrm>
          <a:prstGeom prst="roundRect">
            <a:avLst>
              <a:gd name="adj" fmla="val 40010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6838" y="2467570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08940" y="2490589"/>
            <a:ext cx="4914777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Healthcare runs above headline inflation in both windows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08940" y="2790428"/>
            <a:ext cx="4914777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structural affordability problem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7879" y="2439888"/>
            <a:ext cx="332176" cy="332184"/>
          </a:xfrm>
          <a:prstGeom prst="roundRect">
            <a:avLst>
              <a:gd name="adj" fmla="val 40010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3241" y="2467570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15344" y="2490589"/>
            <a:ext cx="491487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Rural and urban baskets diverge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15344" y="2790428"/>
            <a:ext cx="491487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Rural food-led, urban services-led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1475" y="316745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3396456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Skills demonstrated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661475" y="3938687"/>
            <a:ext cx="1086874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Cleaning &amp; imputation · Audit-ready workbook design · Index vs price reasoning · MoM/YoY/absolute change · Contribution decomposition · CORREL sensitivity analysis · INDEX/MATCH, SUMPRODUCT, AVERAGEIFS · Executive communication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1475" y="452606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4755059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Honest limitations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661475" y="5297289"/>
            <a:ext cx="10868745" cy="962223"/>
          </a:xfrm>
          <a:prstGeom prst="rect">
            <a:avLst/>
          </a:prstGeom>
          <a:noFill/>
          <a:ln/>
        </p:spPr>
        <p:txBody>
          <a:bodyPr wrap="square" lIns="0" tIns="59068" rIns="0" bIns="0" rtlCol="0" anchor="t">
            <a:normAutofit/>
          </a:bodyPr>
          <a:lstStyle/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Equal weights are a case-study simplification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Apr–May 2020 imputed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Rural Housing proxied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 is contemporaneous, not lagged or causal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C833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2026-08-20T06:55:13Z</dcterms:created>
  <dcterms:modified xsi:type="dcterms:W3CDTF">2026-08-20T06:55:13Z</dcterms:modified>
</cp:coreProperties>
</file>